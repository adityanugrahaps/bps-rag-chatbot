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155448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SISTEM CHATBOT RAG BPS PEKANBARU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AACCFF"/>
                </a:solidFill>
              </a:rPr>
              <a:t>Berbasis WhatsApp &amp; Kecerdasan Buatan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0" y="2651760"/>
            <a:ext cx="2286000" cy="45720"/>
          </a:xfrm>
          <a:prstGeom prst="rect">
            <a:avLst/>
          </a:prstGeom>
          <a:solidFill>
            <a:srgbClr val="DA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8346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DDFF"/>
                </a:solidFill>
              </a:rPr>
              <a:t>Menggunakan: n8n  ·  Gemini AI  ·  Supabase pgvector  ·  WAHA  ·  React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Badan Pusat Statistik Kota Pekanbaru  · 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Agenda Presentasi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48640" cy="64008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4630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Latar Belakang &amp; Tujuan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377440"/>
            <a:ext cx="548640" cy="64008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4688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4688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Arsitektur Sistem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383280"/>
            <a:ext cx="548640" cy="64008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474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4747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Alur Kerja Chatbot (n8n Workflow)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389120"/>
            <a:ext cx="548640" cy="64008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4805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4805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Use Case Diagram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394960"/>
            <a:ext cx="548640" cy="64008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5486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4864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ERD Database (Supabase)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371600"/>
            <a:ext cx="548640" cy="64008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4630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14630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Admin Dashboard (localhost:5000)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377440"/>
            <a:ext cx="548640" cy="64008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24688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0" y="24688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Tech Stack &amp; Layanan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3383280"/>
            <a:ext cx="548640" cy="64008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3474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34747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Cara Penggunaan &amp; Demo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4389120"/>
            <a:ext cx="548640" cy="64008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44805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40880" y="44805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444444"/>
                </a:solidFill>
              </a:rPr>
              <a:t>Kesimpulan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Latar Belakang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FF"/>
                </a:solidFill>
              </a:rPr>
              <a:t>Mengapa Chatbot RAG dibutuhkan BPS Pekanbaru?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280160"/>
            <a:ext cx="5577840" cy="52120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</a:rPr>
              <a:t>MASALAH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8308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444444"/>
                </a:solidFill>
              </a:rPr>
              <a:t>📞  Staf BPS sering menerima pertanyaan statistik berulang dari masyarakat</a:t>
            </a:r>
          </a:p>
          <a:p>
            <a:pPr algn="l"/>
            <a:r>
              <a:rPr sz="1400">
                <a:solidFill>
                  <a:srgbClr val="444444"/>
                </a:solidFill>
              </a:rPr>
              <a:t>📄  Publikasi BPS (PDF) sulit dicari secara manual oleh pengguna awam</a:t>
            </a:r>
          </a:p>
          <a:p>
            <a:pPr algn="l"/>
            <a:r>
              <a:rPr sz="1400">
                <a:solidFill>
                  <a:srgbClr val="444444"/>
                </a:solidFill>
              </a:rPr>
              <a:t>⏰  Pertanyaan datang di luar jam kerja — tidak ada yang menjawab</a:t>
            </a:r>
          </a:p>
          <a:p>
            <a:pPr algn="l"/>
            <a:r>
              <a:rPr sz="1400">
                <a:solidFill>
                  <a:srgbClr val="444444"/>
                </a:solidFill>
              </a:rPr>
              <a:t>📊  Data BPS tersebar di banyak publikasi, sulit ditemukan secara cepat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280160"/>
            <a:ext cx="5760720" cy="5212080"/>
          </a:xfrm>
          <a:prstGeom prst="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371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2E8648"/>
                </a:solidFill>
              </a:rPr>
              <a:t>SOLUSI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783080"/>
            <a:ext cx="5577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444444"/>
                </a:solidFill>
              </a:rPr>
              <a:t>✅  Chatbot WhatsApp otomatis — menjawab 24/7 tanpa intervensi manual</a:t>
            </a:r>
          </a:p>
          <a:p>
            <a:pPr algn="l"/>
            <a:r>
              <a:rPr sz="1400">
                <a:solidFill>
                  <a:srgbClr val="444444"/>
                </a:solidFill>
              </a:rPr>
              <a:t>✅  RAG (Retrieval-Augmented Generation) — jawaban dari dokumen resmi BPS</a:t>
            </a:r>
          </a:p>
          <a:p>
            <a:pPr algn="l"/>
            <a:r>
              <a:rPr sz="1400">
                <a:solidFill>
                  <a:srgbClr val="444444"/>
                </a:solidFill>
              </a:rPr>
              <a:t>✅  Gemini AI — memahami pertanyaan dalam bahasa natural (Indonesia)</a:t>
            </a:r>
          </a:p>
          <a:p>
            <a:pPr algn="l"/>
            <a:r>
              <a:rPr sz="1400">
                <a:solidFill>
                  <a:srgbClr val="444444"/>
                </a:solidFill>
              </a:rPr>
              <a:t>✅  Real-time BPS API — data terkini langsung dari webapi.bps.go.id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Arsitektur Sistem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FF"/>
                </a:solidFill>
              </a:rPr>
              <a:t>Gambaran keseluruhan komponen dan alur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5303520"/>
          </a:xfrm>
          <a:prstGeom prst="rect">
            <a:avLst/>
          </a:prstGeom>
          <a:solidFill>
            <a:srgbClr val="DAE8FC"/>
          </a:solidFill>
          <a:ln w="19050">
            <a:solidFill>
              <a:srgbClr val="006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37033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6EAF"/>
                </a:solidFill>
              </a:rPr>
              <a:t>[ INSERT IMAGE: Arsitektur Sistem — arsitektur.png 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Alur Kerja Chatbot (n8n Workflow)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FF"/>
                </a:solidFill>
              </a:rPr>
              <a:t>Dari pesan WhatsApp hingga jawaban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7315200" cy="5303520"/>
          </a:xfrm>
          <a:prstGeom prst="rect">
            <a:avLst/>
          </a:prstGeom>
          <a:solidFill>
            <a:srgbClr val="DAE8FC"/>
          </a:solidFill>
          <a:ln w="19050">
            <a:solidFill>
              <a:srgbClr val="006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3703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6EAF"/>
                </a:solidFill>
              </a:rPr>
              <a:t>[ INSERT IMAGE: Flowchart Chatbot n8n — flowchart_n8n.png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463040"/>
            <a:ext cx="4023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444444"/>
                </a:solidFill>
              </a:rPr>
              <a:t>1. User kirim pesan WhatsApp</a:t>
            </a:r>
          </a:p>
          <a:p>
            <a:pPr algn="l"/>
            <a:r>
              <a:rPr sz="1500">
                <a:solidFill>
                  <a:srgbClr val="444444"/>
                </a:solidFill>
              </a:rPr>
              <a:t>2. WAHA terima &amp; teruskan ke n8n</a:t>
            </a:r>
          </a:p>
          <a:p>
            <a:pPr algn="l"/>
            <a:r>
              <a:rPr sz="1500">
                <a:solidFill>
                  <a:srgbClr val="444444"/>
                </a:solidFill>
              </a:rPr>
              <a:t>3. AI Agent (Gemini) proses</a:t>
            </a:r>
          </a:p>
          <a:p>
            <a:pPr algn="l"/>
            <a:r>
              <a:rPr sz="1500">
                <a:solidFill>
                  <a:srgbClr val="444444"/>
                </a:solidFill>
              </a:rPr>
              <a:t>4. Cari di Knowledge Base (RAG)</a:t>
            </a:r>
          </a:p>
          <a:p>
            <a:pPr algn="l"/>
            <a:r>
              <a:rPr sz="1500">
                <a:solidFill>
                  <a:srgbClr val="444444"/>
                </a:solidFill>
              </a:rPr>
              <a:t>5. Jika perlu → query BPS API</a:t>
            </a:r>
          </a:p>
          <a:p>
            <a:pPr algn="l"/>
            <a:r>
              <a:rPr sz="1500">
                <a:solidFill>
                  <a:srgbClr val="444444"/>
                </a:solidFill>
              </a:rPr>
              <a:t>6. Jawaban dikirim balik ke WA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Use Case Diagram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FF"/>
                </a:solidFill>
              </a:rPr>
              <a:t>Aktor dan fungsionalitas sistem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5303520"/>
          </a:xfrm>
          <a:prstGeom prst="rect">
            <a:avLst/>
          </a:prstGeom>
          <a:solidFill>
            <a:srgbClr val="DAE8FC"/>
          </a:solidFill>
          <a:ln w="19050">
            <a:solidFill>
              <a:srgbClr val="006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37033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6EAF"/>
                </a:solidFill>
              </a:rPr>
              <a:t>[ INSERT IMAGE: Use Case Diagram — usecase.png 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Entity Relationship Diagram (ERD)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FF"/>
                </a:solidFill>
              </a:rPr>
              <a:t>Skema database Supabase PostgreSQL + pgvector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7772400" cy="5303520"/>
          </a:xfrm>
          <a:prstGeom prst="rect">
            <a:avLst/>
          </a:prstGeom>
          <a:solidFill>
            <a:srgbClr val="DAE8FC"/>
          </a:solidFill>
          <a:ln w="19050">
            <a:solidFill>
              <a:srgbClr val="006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370332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6EAF"/>
                </a:solidFill>
              </a:rPr>
              <a:t>[ INSERT IMAGE: ERD Database — erd_dbdiagram.png ]</a:t>
            </a:r>
          </a:p>
        </p:txBody>
      </p:sp>
      <p:sp>
        <p:nvSpPr>
          <p:cNvPr id="8" name="Rectangle 7"/>
          <p:cNvSpPr/>
          <p:nvPr/>
        </p:nvSpPr>
        <p:spPr>
          <a:xfrm>
            <a:off x="8321040" y="1417320"/>
            <a:ext cx="3566160" cy="1554480"/>
          </a:xfrm>
          <a:prstGeom prst="rect">
            <a:avLst/>
          </a:prstGeom>
          <a:solidFill>
            <a:srgbClr val="DAE8FC"/>
          </a:solidFill>
          <a:ln w="12700">
            <a:solidFill>
              <a:srgbClr val="006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0" y="15087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C6E"/>
                </a:solidFill>
              </a:rPr>
              <a:t>📚 documents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192024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Menyimpan chunk teks PDF
+ embedding vector(768)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3108960"/>
            <a:ext cx="3566160" cy="1554480"/>
          </a:xfrm>
          <a:prstGeom prst="rect">
            <a:avLst/>
          </a:prstGeom>
          <a:solidFill>
            <a:srgbClr val="DAE8FC"/>
          </a:solidFill>
          <a:ln w="12700">
            <a:solidFill>
              <a:srgbClr val="006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320040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C6E"/>
                </a:solidFill>
              </a:rPr>
              <a:t>📄 ingested_files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61188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Metadata file PDF
yang sudah diproses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4800600"/>
            <a:ext cx="3566160" cy="1554480"/>
          </a:xfrm>
          <a:prstGeom prst="rect">
            <a:avLst/>
          </a:prstGeom>
          <a:solidFill>
            <a:srgbClr val="DAE8FC"/>
          </a:solidFill>
          <a:ln w="12700">
            <a:solidFill>
              <a:srgbClr val="006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489204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C6E"/>
                </a:solidFill>
              </a:rPr>
              <a:t>💬 n8n_chat_histories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530352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Riwayat percakapan
WhatsApp per sesi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Alur Admin Dashboard (localhost:5000)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FF"/>
                </a:solidFill>
              </a:rPr>
              <a:t>3 menu utama: Dashboard · PDF Processor · Credentials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11430000" cy="5303520"/>
          </a:xfrm>
          <a:prstGeom prst="rect">
            <a:avLst/>
          </a:prstGeom>
          <a:solidFill>
            <a:srgbClr val="DAE8FC"/>
          </a:solidFill>
          <a:ln w="19050">
            <a:solidFill>
              <a:srgbClr val="006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37033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6EAF"/>
                </a:solidFill>
              </a:rPr>
              <a:t>[ INSERT IMAGE: Flowchart Admin Dashboard — flowchart_admin.png 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Tech Stack &amp; Layanan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FF"/>
                </a:solidFill>
              </a:rPr>
              <a:t>Komponen teknologi yang digunakan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3749039" cy="2377440"/>
          </a:xfrm>
          <a:prstGeom prst="rect">
            <a:avLst/>
          </a:prstGeom>
          <a:solidFill>
            <a:srgbClr val="DAE8FC"/>
          </a:solidFill>
          <a:ln w="12700">
            <a:solidFill>
              <a:srgbClr val="006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C6E"/>
                </a:solidFill>
              </a:rPr>
              <a:t>🤖  AI &amp;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82880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444444"/>
                </a:solidFill>
              </a:rPr>
              <a:t>• Google Gemini 2.0 Flash (Chat)</a:t>
            </a:r>
          </a:p>
          <a:p>
            <a:pPr algn="l"/>
            <a:r>
              <a:rPr sz="1300">
                <a:solidFill>
                  <a:srgbClr val="444444"/>
                </a:solidFill>
              </a:rPr>
              <a:t>• Gemini Embedding 004 (768-dim)</a:t>
            </a:r>
          </a:p>
          <a:p>
            <a:pPr algn="l"/>
            <a:r>
              <a:rPr sz="1300">
                <a:solidFill>
                  <a:srgbClr val="444444"/>
                </a:solidFill>
              </a:rPr>
              <a:t>• RAG (Retrieval-Augmented Generation)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9" y="1325880"/>
            <a:ext cx="3749039" cy="2377440"/>
          </a:xfrm>
          <a:prstGeom prst="rect">
            <a:avLst/>
          </a:prstGeom>
          <a:solidFill>
            <a:srgbClr val="DAE8FC"/>
          </a:solidFill>
          <a:ln w="12700">
            <a:solidFill>
              <a:srgbClr val="006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399" y="141732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C6E"/>
                </a:solidFill>
              </a:rPr>
              <a:t>⚙️  Workflow &amp;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399" y="182880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444444"/>
                </a:solidFill>
              </a:rPr>
              <a:t>• n8n (Workflow Automation, port 5678)</a:t>
            </a:r>
          </a:p>
          <a:p>
            <a:pPr algn="l"/>
            <a:r>
              <a:rPr sz="1300">
                <a:solidFill>
                  <a:srgbClr val="444444"/>
                </a:solidFill>
              </a:rPr>
              <a:t>• WAHA (WhatsApp Gateway, port 3001)</a:t>
            </a:r>
          </a:p>
          <a:p>
            <a:pPr algn="l"/>
            <a:r>
              <a:rPr sz="1300">
                <a:solidFill>
                  <a:srgbClr val="444444"/>
                </a:solidFill>
              </a:rPr>
              <a:t>• BPS Web API (webapi.bps.go.id)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325880"/>
            <a:ext cx="3749039" cy="2377440"/>
          </a:xfrm>
          <a:prstGeom prst="rect">
            <a:avLst/>
          </a:prstGeom>
          <a:solidFill>
            <a:srgbClr val="DAE8FC"/>
          </a:solidFill>
          <a:ln w="12700">
            <a:solidFill>
              <a:srgbClr val="006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41732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C6E"/>
                </a:solidFill>
              </a:rPr>
              <a:t>🗄️  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182880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444444"/>
                </a:solidFill>
              </a:rPr>
              <a:t>• Supabase PostgreSQL + pgvector</a:t>
            </a:r>
          </a:p>
          <a:p>
            <a:pPr algn="l"/>
            <a:r>
              <a:rPr sz="1300">
                <a:solidFill>
                  <a:srgbClr val="444444"/>
                </a:solidFill>
              </a:rPr>
              <a:t>• HNSW Index (cosine similarity)</a:t>
            </a:r>
          </a:p>
          <a:p>
            <a:pPr algn="l"/>
            <a:r>
              <a:rPr sz="1300">
                <a:solidFill>
                  <a:srgbClr val="444444"/>
                </a:solidFill>
              </a:rPr>
              <a:t>• match_documents RPC Function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886200"/>
            <a:ext cx="3749039" cy="2377440"/>
          </a:xfrm>
          <a:prstGeom prst="rect">
            <a:avLst/>
          </a:prstGeom>
          <a:solidFill>
            <a:srgbClr val="DAE8FC"/>
          </a:solidFill>
          <a:ln w="12700">
            <a:solidFill>
              <a:srgbClr val="006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97764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C6E"/>
                </a:solidFill>
              </a:rPr>
              <a:t>🖥️  Frontend &amp; 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438912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444444"/>
                </a:solidFill>
              </a:rPr>
              <a:t>• React 18 + Vite + Tailwind CSS</a:t>
            </a:r>
          </a:p>
          <a:p>
            <a:pPr algn="l"/>
            <a:r>
              <a:rPr sz="1300">
                <a:solidFill>
                  <a:srgbClr val="444444"/>
                </a:solidFill>
              </a:rPr>
              <a:t>• FastAPI (Python, port 8503)</a:t>
            </a:r>
          </a:p>
          <a:p>
            <a:pPr algn="l"/>
            <a:r>
              <a:rPr sz="1300">
                <a:solidFill>
                  <a:srgbClr val="444444"/>
                </a:solidFill>
              </a:rPr>
              <a:t>• Admin Dashboard (port 5000)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59" y="3886200"/>
            <a:ext cx="3749039" cy="2377440"/>
          </a:xfrm>
          <a:prstGeom prst="rect">
            <a:avLst/>
          </a:prstGeom>
          <a:solidFill>
            <a:srgbClr val="DAE8FC"/>
          </a:solidFill>
          <a:ln w="12700">
            <a:solidFill>
              <a:srgbClr val="006E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399" y="397764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C6E"/>
                </a:solidFill>
              </a:rPr>
              <a:t>🐳  Infrastructure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399" y="438912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444444"/>
                </a:solidFill>
              </a:rPr>
              <a:t>• Docker (WAHA, Metabase)</a:t>
            </a:r>
          </a:p>
          <a:p>
            <a:pPr algn="l"/>
            <a:r>
              <a:rPr sz="1300">
                <a:solidFill>
                  <a:srgbClr val="444444"/>
                </a:solidFill>
              </a:rPr>
              <a:t>• Metabase Analytics (port 3002)</a:t>
            </a:r>
          </a:p>
          <a:p>
            <a:pPr algn="l"/>
            <a:r>
              <a:rPr sz="1300">
                <a:solidFill>
                  <a:srgbClr val="444444"/>
                </a:solidFill>
              </a:rPr>
              <a:t>• Windows (start.bat launcher)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Cara Penggunaan Sistem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FF"/>
                </a:solidFill>
              </a:rPr>
              <a:t>Operasional harian dan fitur utama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5577840" cy="521208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3C6E"/>
                </a:solidFill>
              </a:rPr>
              <a:t>👤  Untuk Pengguna WhatsApp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74519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444444"/>
                </a:solidFill>
              </a:rPr>
              <a:t>1. Kirim pesan ke nomor WhatsApp bot</a:t>
            </a:r>
          </a:p>
          <a:p>
            <a:pPr algn="l"/>
            <a:r>
              <a:rPr sz="1500">
                <a:solidFill>
                  <a:srgbClr val="444444"/>
                </a:solidFill>
              </a:rPr>
              <a:t>2. Tanyakan data statistik BPS Pekanbaru</a:t>
            </a:r>
          </a:p>
          <a:p>
            <a:pPr algn="l"/>
            <a:r>
              <a:rPr sz="1500">
                <a:solidFill>
                  <a:srgbClr val="444444"/>
                </a:solidFill>
              </a:rPr>
              <a:t>3. Bot menjawab otomatis dalam hitungan detik</a:t>
            </a:r>
          </a:p>
          <a:p>
            <a:pPr algn="l"/>
            <a:r>
              <a:rPr sz="1500">
                <a:solidFill>
                  <a:srgbClr val="444444"/>
                </a:solidFill>
              </a:rPr>
              <a:t>4. Jawaban berdasarkan publikasi resmi BPS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325880"/>
            <a:ext cx="5577840" cy="5212080"/>
          </a:xfrm>
          <a:prstGeom prst="rect">
            <a:avLst/>
          </a:prstGeom>
          <a:solidFill>
            <a:srgbClr val="F0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173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8648"/>
                </a:solidFill>
              </a:rPr>
              <a:t>🔧  Untuk Admin BPS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74519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>
                <a:solidFill>
                  <a:srgbClr val="444444"/>
                </a:solidFill>
              </a:rPr>
              <a:t>1. Buka localhost:5000 (Admin Dashboard)</a:t>
            </a:r>
          </a:p>
          <a:p>
            <a:pPr algn="l"/>
            <a:r>
              <a:rPr sz="1500">
                <a:solidFill>
                  <a:srgbClr val="444444"/>
                </a:solidFill>
              </a:rPr>
              <a:t>2. Upload PDF publikasi BPS baru</a:t>
            </a:r>
          </a:p>
          <a:p>
            <a:pPr algn="l"/>
            <a:r>
              <a:rPr sz="1500">
                <a:solidFill>
                  <a:srgbClr val="444444"/>
                </a:solidFill>
              </a:rPr>
              <a:t>3. Sistem otomatis ekstrak, chunk, dan embed</a:t>
            </a:r>
          </a:p>
          <a:p>
            <a:pPr algn="l"/>
            <a:r>
              <a:rPr sz="1500">
                <a:solidFill>
                  <a:srgbClr val="444444"/>
                </a:solidFill>
              </a:rPr>
              <a:t>4. Kelola API credentials di menu Credentials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Layanan &amp; 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ACCFF"/>
                </a:solidFill>
              </a:rPr>
              <a:t>Ringkasan semua service yang berjalan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25880"/>
            <a:ext cx="2377440" cy="4572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371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Layanan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325880"/>
            <a:ext cx="2377440" cy="4572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13716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Teknologi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1325880"/>
            <a:ext cx="1280160" cy="4572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74920" y="13716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Port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325880"/>
            <a:ext cx="2743200" cy="4572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Cara Jalankan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52560" y="1325880"/>
            <a:ext cx="2743200" cy="4572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Keterangan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1783080"/>
            <a:ext cx="11612880" cy="749808"/>
          </a:xfrm>
          <a:prstGeom prst="rect">
            <a:avLst/>
          </a:prstGeom>
          <a:solidFill>
            <a:srgbClr val="DA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18745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EAF"/>
                </a:solidFill>
              </a:rPr>
              <a:t>Admin 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97480" y="187452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React + Vite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187452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5000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8745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start.bat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18745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Antarmuka upload &amp; kelola PDF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532888"/>
            <a:ext cx="1161288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262432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6EAF"/>
                </a:solidFill>
              </a:rPr>
              <a:t>PDF Processor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2624328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FastAPI Python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74920" y="2624328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8503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262432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start.bat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2624328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Backend pemrosesan PDF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282696"/>
            <a:ext cx="11612880" cy="749808"/>
          </a:xfrm>
          <a:prstGeom prst="rect">
            <a:avLst/>
          </a:prstGeom>
          <a:solidFill>
            <a:srgbClr val="DA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3374136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67E22"/>
                </a:solidFill>
              </a:rPr>
              <a:t>n8n Workflow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97480" y="3374136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Node.js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74920" y="3374136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5678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3374136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n8n start (manual)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98280" y="3374136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Orkestrasi AI chatbot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032504"/>
            <a:ext cx="1161288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4123944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8648"/>
                </a:solidFill>
              </a:rPr>
              <a:t>WAHA Gateway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697480" y="4123944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Docker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74920" y="4123944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3001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412394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Docker Desktop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8280" y="4123944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WhatsApp gateway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782312"/>
            <a:ext cx="11612880" cy="749808"/>
          </a:xfrm>
          <a:prstGeom prst="rect">
            <a:avLst/>
          </a:prstGeom>
          <a:solidFill>
            <a:srgbClr val="DAE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4873752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44444"/>
                </a:solidFill>
              </a:rPr>
              <a:t>Metabase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97480" y="4873752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Docker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74920" y="4873752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3002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5080" y="487375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docker compose up -d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98280" y="4873752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Analytics (opsional)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5532120"/>
            <a:ext cx="11612880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0040" y="56235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A0DAD"/>
                </a:solidFill>
              </a:rPr>
              <a:t>Supabase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97480" y="56235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Cloud (PG+pgvec)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74920" y="5623560"/>
            <a:ext cx="1280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—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55080" y="56235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Sudah berjalan cloud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98280" y="56235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</a:rPr>
              <a:t>Database vektor cloud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006E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Kesimpulan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18872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✅  Chatbot WhatsApp otomatis berbasis RAG berhasil dibangun untuk BPS Pekanbaru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901952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✅  Sistem dapat menjawab pertanyaan statistik 24/7 dari dokumen resmi BPS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615184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✅  Admin dashboard memudahkan pengelolaan PDF tanpa keahlian teknis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328415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✅  Integrasi BPS Web API memastikan data real-time tersedia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041648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DDFF"/>
                </a:solidFill>
              </a:rPr>
              <a:t>✅  Teknologi modern: Gemini AI + pgvector + n8n + WAHA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212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Terima Kasih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943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AABBDD"/>
                </a:solidFill>
              </a:rPr>
              <a:t>Badan Pusat Statistik Kota Pekanbaru  · 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